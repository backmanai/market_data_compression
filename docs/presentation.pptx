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86" r:id="rId3"/>
    <p:sldId id="287" r:id="rId4"/>
    <p:sldId id="288" r:id="rId5"/>
    <p:sldId id="285" r:id="rId6"/>
    <p:sldId id="290" r:id="rId7"/>
    <p:sldId id="301" r:id="rId8"/>
    <p:sldId id="298" r:id="rId9"/>
    <p:sldId id="293" r:id="rId10"/>
    <p:sldId id="296" r:id="rId11"/>
    <p:sldId id="295" r:id="rId12"/>
    <p:sldId id="302" r:id="rId13"/>
    <p:sldId id="303" r:id="rId14"/>
    <p:sldId id="304" r:id="rId15"/>
    <p:sldId id="30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6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112"/>
    <p:restoredTop sz="94619"/>
  </p:normalViewPr>
  <p:slideViewPr>
    <p:cSldViewPr snapToGrid="0">
      <p:cViewPr>
        <p:scale>
          <a:sx n="154" d="100"/>
          <a:sy n="154" d="100"/>
        </p:scale>
        <p:origin x="520" y="2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62D134-9102-9947-B39D-10FE0E52FDF8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80547F-94B1-9B40-9535-98CC734A1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961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80547F-94B1-9B40-9535-98CC734A1BC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108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89441-6CA0-1A16-D88E-3571F75D0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9C5C76-5F8E-7730-2626-115AF2C013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2ECB25-2B44-0FD3-634F-0C26DE02A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523DE-2A31-ED4E-82EA-56E61E0000D9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8CA48-61EB-7470-0183-56ABE1C7D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3FC1D-328C-E659-E0AC-C3C892459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128EE-1C07-914F-A5DC-5198D7665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387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E51F2-5F05-7AE9-BA61-DE6A6EFFF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80872-7E26-03DC-4C40-B1E694FCE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DA075-D7A4-3090-5EB7-4227DE406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523DE-2A31-ED4E-82EA-56E61E0000D9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22ABC-80DD-E80E-405E-33D9194FC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2922F-7239-9FCD-6105-9C0443F1F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128EE-1C07-914F-A5DC-5198D7665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331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CD508-9C8C-7FBE-A815-0D4DB7E4B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8DCD86-2E60-EC5C-5F2D-9C9561BB2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8D8C60-6ACF-DB34-A11F-CB8828156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523DE-2A31-ED4E-82EA-56E61E0000D9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CCC54-BE8B-BF28-95CC-877B947B0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46CD8-6F1C-B6BC-C47E-FE790EC96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128EE-1C07-914F-A5DC-5198D7665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454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B4FFE-FAA7-BCA5-3A48-64B25570A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B0829-86F4-102C-75D6-37C5B33F0C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BC310C-2E6E-5D4E-B403-14AE86BB70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829176-0513-5E44-7688-6CF47A7D4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523DE-2A31-ED4E-82EA-56E61E0000D9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0C25EB-95EA-2EEE-7296-B744AC2A4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BEA83-2B53-1DA5-2D62-3F3F89B6C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128EE-1C07-914F-A5DC-5198D7665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753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9C748-50FB-BC0B-C078-96F95ACD2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FD8A5A-3B2E-CA97-8E19-E191515B74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49A4E-3710-F434-79E6-7D32B84619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ECD21B-EC27-AEF3-0C5E-DB80559D9E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4B5B40-E86F-1B10-11B4-92D5A5888B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CE73B7-D9F7-458C-6D5A-936F2F987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523DE-2A31-ED4E-82EA-56E61E0000D9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5B3ADD-1552-E96C-031D-832A2D507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8597E8-FA0F-34B4-E0DA-29AF136C4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128EE-1C07-914F-A5DC-5198D7665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614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87D87-A0E7-1CFA-7234-AFEE76A06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6D9591-6FD8-87CC-59DB-C73F17081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523DE-2A31-ED4E-82EA-56E61E0000D9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7E49FF-B2B7-D6F7-70AA-F7E9D8139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E8DF8C-5B9F-25AD-387E-78A0475A0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128EE-1C07-914F-A5DC-5198D7665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339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AB352A-0EAA-2BC5-D91F-9FC9F6E8D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523DE-2A31-ED4E-82EA-56E61E0000D9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268B49-9678-21DF-B82D-4CEECA966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83BDBB-0637-C9D2-47E2-1DD8E50CA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128EE-1C07-914F-A5DC-5198D7665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472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1B8C3-005F-6989-527D-26F0F78BF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92594-76CD-10D7-31F4-8ED5FEF41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34C227-9133-DDA3-073D-CFE00FDD07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1B69CE-BA5A-6270-4B16-3A00308E2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523DE-2A31-ED4E-82EA-56E61E0000D9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6B2E40-3275-799C-0728-5F074B439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9A592F-A0DF-E4A8-D4C1-1E17E7146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128EE-1C07-914F-A5DC-5198D7665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455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1DB1F-A7A7-D052-2467-E51462C2C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4B2782-6DDC-CB37-7B99-6BCC36123C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2151E6-7598-A09D-4AE3-2325EB53DC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BB5C09-C8D3-AE34-4DD1-EE4CC9E56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523DE-2A31-ED4E-82EA-56E61E0000D9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94C02C-C4FB-F6F0-3865-3406B3D98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1D4AA-439C-F61E-398B-50B59E5D6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128EE-1C07-914F-A5DC-5198D7665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065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82EE1-2D75-22A8-4614-F0F022A6D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EDEFBD-16B9-589C-5698-E3EB6511BC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7F54B-B266-A208-BC50-C50FB3135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523DE-2A31-ED4E-82EA-56E61E0000D9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6BD64D-13BB-E0E3-BD69-0962D2E73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8372C-3892-DE8B-C008-58147C2A4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128EE-1C07-914F-A5DC-5198D7665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078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B987DF-F2FC-28B7-36EB-CA7CC4A82D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7985E5-22D3-2211-DB44-7FCFB1A745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86BF6-B78A-23ED-B4DC-9FC679771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523DE-2A31-ED4E-82EA-56E61E0000D9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B8F3E-18E1-4F2D-4464-605F1DEC8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C9069-3263-9D5E-E198-3EF4DBFB1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128EE-1C07-914F-A5DC-5198D7665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605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AF911C-0AF7-1E21-21E9-73E596DD4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FFBF4E-4639-6020-4770-321F8C237A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669A5-62CB-BF38-2251-F0BB472AA3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523DE-2A31-ED4E-82EA-56E61E0000D9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1F1B8-87A6-AF24-F4C9-6160CDC49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857A9-FA3F-0D29-829B-2605207AE2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7128EE-1C07-914F-A5DC-5198D7665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501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ackmanai/market_data_compression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veonline.com/news/view/monthly-economic-report-september-2025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uinnessworldrecords.com/world-records/88183-most-hostile-corporate-takeover-in-eve-online" TargetMode="External"/><Relationship Id="rId3" Type="http://schemas.openxmlformats.org/officeDocument/2006/relationships/image" Target="../media/image4.jpeg"/><Relationship Id="rId7" Type="http://schemas.openxmlformats.org/officeDocument/2006/relationships/hyperlink" Target="https://www.pcgamer.com/murder-incorporated-ten-months-of-deception-for-one-kill-in-eve-online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Battle_of_B-R5RB" TargetMode="External"/><Relationship Id="rId11" Type="http://schemas.openxmlformats.org/officeDocument/2006/relationships/hyperlink" Target="https://www.cambridge.org/core/books/abs/invisible-hand-in-virtual-worlds/minerals-titans-and-connections-the-political-economy-of-empire-in-the-world-of-eve-online/D35784F90EF7098ACD4E8582F6F77920" TargetMode="External"/><Relationship Id="rId5" Type="http://schemas.openxmlformats.org/officeDocument/2006/relationships/hyperlink" Target="https://www.bbc.com/news/technology-25944837" TargetMode="External"/><Relationship Id="rId10" Type="http://schemas.openxmlformats.org/officeDocument/2006/relationships/hyperlink" Target="https://www.researchgate.net/publication/337645762_EVE_Online_is_not_for_Everyone_Exceptionalism_in_Online_Gaming_Cultures" TargetMode="External"/><Relationship Id="rId4" Type="http://schemas.openxmlformats.org/officeDocument/2006/relationships/hyperlink" Target="https://www.eveonline.com/news/view/the-bloodbath-of-b-r5rb" TargetMode="External"/><Relationship Id="rId9" Type="http://schemas.openxmlformats.org/officeDocument/2006/relationships/hyperlink" Target="https://minds.wisconsin.edu/bitstream/handle/1793/79143/11460%20OshScholar18%20Smith.pdf?sequence=1&amp;isAllowed=y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s.eveonline.com/api-explorer#/operations/GetMarketsRegionIdOrders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martinfowler.com/eaaDev/EventSourcing.html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B1595A09-E336-4D1B-9B3A-06A2287A5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03C03B-C574-7F3E-EC39-1DDC0FEC4C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4777739"/>
            <a:ext cx="3418990" cy="14121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700"/>
              <a:t>Solving Space Issues in Space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BA4845-8EB9-DD1A-5968-A9E56F0583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344" b="13345"/>
          <a:stretch>
            <a:fillRect/>
          </a:stretch>
        </p:blipFill>
        <p:spPr>
          <a:xfrm>
            <a:off x="20" y="10"/>
            <a:ext cx="12191980" cy="4558420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</p:spPr>
      </p:pic>
      <p:sp>
        <p:nvSpPr>
          <p:cNvPr id="42" name="sketch line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61305" y="5468206"/>
            <a:ext cx="1371600" cy="18288"/>
          </a:xfrm>
          <a:custGeom>
            <a:avLst/>
            <a:gdLst>
              <a:gd name="csX0" fmla="*/ 0 w 1371600"/>
              <a:gd name="csY0" fmla="*/ 0 h 18288"/>
              <a:gd name="csX1" fmla="*/ 685800 w 1371600"/>
              <a:gd name="csY1" fmla="*/ 0 h 18288"/>
              <a:gd name="csX2" fmla="*/ 1371600 w 1371600"/>
              <a:gd name="csY2" fmla="*/ 0 h 18288"/>
              <a:gd name="csX3" fmla="*/ 1371600 w 1371600"/>
              <a:gd name="csY3" fmla="*/ 18288 h 18288"/>
              <a:gd name="csX4" fmla="*/ 713232 w 1371600"/>
              <a:gd name="csY4" fmla="*/ 18288 h 18288"/>
              <a:gd name="csX5" fmla="*/ 0 w 1371600"/>
              <a:gd name="csY5" fmla="*/ 18288 h 18288"/>
              <a:gd name="csX6" fmla="*/ 0 w 1371600"/>
              <a:gd name="csY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71600" h="18288" fill="none" extrusionOk="0">
                <a:moveTo>
                  <a:pt x="0" y="0"/>
                </a:moveTo>
                <a:cubicBezTo>
                  <a:pt x="247303" y="31625"/>
                  <a:pt x="422310" y="-25629"/>
                  <a:pt x="685800" y="0"/>
                </a:cubicBezTo>
                <a:cubicBezTo>
                  <a:pt x="949290" y="25629"/>
                  <a:pt x="1192357" y="6696"/>
                  <a:pt x="1371600" y="0"/>
                </a:cubicBezTo>
                <a:cubicBezTo>
                  <a:pt x="1371355" y="6649"/>
                  <a:pt x="1371915" y="11310"/>
                  <a:pt x="1371600" y="18288"/>
                </a:cubicBezTo>
                <a:cubicBezTo>
                  <a:pt x="1107995" y="26464"/>
                  <a:pt x="1033361" y="32942"/>
                  <a:pt x="713232" y="18288"/>
                </a:cubicBezTo>
                <a:cubicBezTo>
                  <a:pt x="393103" y="3634"/>
                  <a:pt x="289343" y="43221"/>
                  <a:pt x="0" y="18288"/>
                </a:cubicBezTo>
                <a:cubicBezTo>
                  <a:pt x="-459" y="11562"/>
                  <a:pt x="-31" y="5093"/>
                  <a:pt x="0" y="0"/>
                </a:cubicBezTo>
                <a:close/>
              </a:path>
              <a:path w="1371600" h="18288" stroke="0" extrusionOk="0">
                <a:moveTo>
                  <a:pt x="0" y="0"/>
                </a:moveTo>
                <a:cubicBezTo>
                  <a:pt x="170249" y="-24099"/>
                  <a:pt x="504634" y="14338"/>
                  <a:pt x="644652" y="0"/>
                </a:cubicBezTo>
                <a:cubicBezTo>
                  <a:pt x="784670" y="-14338"/>
                  <a:pt x="1087773" y="8679"/>
                  <a:pt x="1371600" y="0"/>
                </a:cubicBezTo>
                <a:cubicBezTo>
                  <a:pt x="1372456" y="3662"/>
                  <a:pt x="1371030" y="13946"/>
                  <a:pt x="1371600" y="18288"/>
                </a:cubicBezTo>
                <a:cubicBezTo>
                  <a:pt x="1176823" y="-1409"/>
                  <a:pt x="900830" y="9989"/>
                  <a:pt x="713232" y="18288"/>
                </a:cubicBezTo>
                <a:cubicBezTo>
                  <a:pt x="525634" y="26587"/>
                  <a:pt x="282837" y="5724"/>
                  <a:pt x="0" y="18288"/>
                </a:cubicBezTo>
                <a:cubicBezTo>
                  <a:pt x="367" y="13143"/>
                  <a:pt x="-823" y="58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D2143C-5164-99DC-EEC7-4987D36D5A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4294" y="4777739"/>
            <a:ext cx="6897626" cy="13992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1500" dirty="0"/>
              <a:t>Project for the Advanced Big Data Module in CAS Machine Intelligence 2025</a:t>
            </a:r>
          </a:p>
          <a:p>
            <a:pPr algn="l"/>
            <a:r>
              <a:rPr lang="en-US" sz="1500" dirty="0"/>
              <a:t>By Fredrik Bäckman</a:t>
            </a:r>
          </a:p>
          <a:p>
            <a:pPr algn="l"/>
            <a:r>
              <a:rPr lang="en-US" sz="1500" dirty="0"/>
              <a:t>Code and Dataset: </a:t>
            </a:r>
            <a:r>
              <a:rPr lang="en-US" sz="1500" dirty="0">
                <a:hlinkClick r:id="rId3"/>
              </a:rPr>
              <a:t>https://github.com/backmanai/market_data_compression</a:t>
            </a:r>
            <a:endParaRPr lang="en-US" sz="15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3A2817-0269-C206-44D4-97FD99C2F906}"/>
              </a:ext>
            </a:extLst>
          </p:cNvPr>
          <p:cNvSpPr txBox="1"/>
          <p:nvPr/>
        </p:nvSpPr>
        <p:spPr>
          <a:xfrm>
            <a:off x="74048" y="6536076"/>
            <a:ext cx="2129722" cy="28771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300" dirty="0"/>
              <a:t>[Image Source: Gemini AI]</a:t>
            </a:r>
          </a:p>
        </p:txBody>
      </p:sp>
    </p:spTree>
    <p:extLst>
      <p:ext uri="{BB962C8B-B14F-4D97-AF65-F5344CB8AC3E}">
        <p14:creationId xmlns:p14="http://schemas.microsoft.com/office/powerpoint/2010/main" val="3482408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676D6CDF-C512-4739-B158-55EE955E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72BD42-55CB-9A08-5F83-D3DBFDEAB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3" y="670559"/>
            <a:ext cx="4683321" cy="2148841"/>
          </a:xfrm>
        </p:spPr>
        <p:txBody>
          <a:bodyPr anchor="t">
            <a:normAutofit fontScale="90000"/>
          </a:bodyPr>
          <a:lstStyle/>
          <a:p>
            <a:r>
              <a:rPr lang="en-US" dirty="0"/>
              <a:t>Data Context: </a:t>
            </a:r>
            <a:br>
              <a:rPr lang="en-US" dirty="0"/>
            </a:br>
            <a:r>
              <a:rPr lang="en-US" dirty="0"/>
              <a:t>Eve Online – </a:t>
            </a:r>
            <a:br>
              <a:rPr lang="en-US" dirty="0"/>
            </a:br>
            <a:r>
              <a:rPr lang="en-US" dirty="0"/>
              <a:t>a massive multiplayer online game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69BE8AE-F206-0DEF-C45A-763251E51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45" b="-2"/>
          <a:stretch>
            <a:fillRect/>
          </a:stretch>
        </p:blipFill>
        <p:spPr bwMode="auto">
          <a:xfrm>
            <a:off x="1" y="3105151"/>
            <a:ext cx="6448424" cy="3752849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C39E6-8D6B-B93D-8C2D-EF1DDC950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7004" y="670559"/>
            <a:ext cx="4555782" cy="5445076"/>
          </a:xfrm>
        </p:spPr>
        <p:txBody>
          <a:bodyPr anchor="t">
            <a:normAutofit/>
          </a:bodyPr>
          <a:lstStyle/>
          <a:p>
            <a:r>
              <a:rPr lang="en-US" sz="1300" b="1" dirty="0"/>
              <a:t>PLAYER-DRIVEN ECONOMY</a:t>
            </a:r>
            <a:endParaRPr lang="en-US" sz="1300" dirty="0"/>
          </a:p>
          <a:p>
            <a:pPr lvl="1"/>
            <a:r>
              <a:rPr lang="en-US" sz="1300" dirty="0"/>
              <a:t>Nearly everything manufactured, mined, and traded by players</a:t>
            </a:r>
          </a:p>
          <a:p>
            <a:pPr lvl="1"/>
            <a:r>
              <a:rPr lang="en-US" sz="1300" dirty="0"/>
              <a:t>Complex supply chains spanning entire star systems</a:t>
            </a:r>
          </a:p>
          <a:p>
            <a:pPr lvl="1"/>
            <a:r>
              <a:rPr lang="en-US" sz="1300" dirty="0"/>
              <a:t>Real economists study EVE's market dynamics</a:t>
            </a:r>
          </a:p>
          <a:p>
            <a:pPr lvl="1"/>
            <a:r>
              <a:rPr lang="en-US" sz="1300" dirty="0"/>
              <a:t>In-Game currency ISK and Plex. 500M ISK &lt;- 100Plex &lt;- $5 (note: only one direction)</a:t>
            </a:r>
          </a:p>
          <a:p>
            <a:pPr lvl="1"/>
            <a:r>
              <a:rPr lang="en-US" sz="1300" dirty="0"/>
              <a:t>$24+ million USD in circulating currency alone (total economy value likely $300M+ including all assets)</a:t>
            </a:r>
          </a:p>
          <a:p>
            <a:pPr marL="457200" lvl="1" indent="0">
              <a:buNone/>
            </a:pPr>
            <a:r>
              <a:rPr lang="en-US" sz="1300" dirty="0">
                <a:hlinkClick r:id="rId3"/>
              </a:rPr>
              <a:t>(https://www.eveonline.com/news/view/monthly-economic-report-september-2025</a:t>
            </a:r>
            <a:r>
              <a:rPr lang="en-US" sz="1300" dirty="0"/>
              <a:t>)</a:t>
            </a:r>
          </a:p>
          <a:p>
            <a:pPr marL="457200" lvl="1" indent="0">
              <a:buNone/>
            </a:pPr>
            <a:endParaRPr lang="en-US" sz="1300" dirty="0"/>
          </a:p>
          <a:p>
            <a:r>
              <a:rPr lang="en-US" sz="1300" b="1" dirty="0"/>
              <a:t>MASSIVE SCALE</a:t>
            </a:r>
            <a:endParaRPr lang="en-US" sz="1300" dirty="0"/>
          </a:p>
          <a:p>
            <a:pPr lvl="1"/>
            <a:r>
              <a:rPr lang="en-US" sz="1300" dirty="0"/>
              <a:t>Single-shard universe with 7,000+ star systems</a:t>
            </a:r>
          </a:p>
          <a:p>
            <a:pPr lvl="1"/>
            <a:r>
              <a:rPr lang="en-US" sz="1300" dirty="0"/>
              <a:t>Battles involving thousands of simultaneous players</a:t>
            </a:r>
          </a:p>
          <a:p>
            <a:pPr lvl="1"/>
            <a:r>
              <a:rPr lang="en-US" sz="1300" dirty="0"/>
              <a:t>Largest battle (M2-XFE, 2021): 6,500+ pilots, losses valued at ~$378,000 USD</a:t>
            </a:r>
          </a:p>
          <a:p>
            <a:pPr lvl="1"/>
            <a:endParaRPr lang="en-US" sz="1300" dirty="0"/>
          </a:p>
          <a:p>
            <a:r>
              <a:rPr lang="en-US" sz="1300" b="1" dirty="0"/>
              <a:t>LONGEVITY</a:t>
            </a:r>
            <a:endParaRPr lang="en-US" sz="1300" dirty="0"/>
          </a:p>
          <a:p>
            <a:pPr lvl="1"/>
            <a:r>
              <a:rPr lang="en-US" sz="1300" dirty="0"/>
              <a:t>Launched May 2003 (20+ years running)</a:t>
            </a:r>
          </a:p>
          <a:p>
            <a:pPr lvl="1"/>
            <a:r>
              <a:rPr lang="en-US" sz="1300" dirty="0"/>
              <a:t>Continuous updates and expansions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BF65FF-050E-20E4-A342-B92113196C30}"/>
              </a:ext>
            </a:extLst>
          </p:cNvPr>
          <p:cNvSpPr txBox="1"/>
          <p:nvPr/>
        </p:nvSpPr>
        <p:spPr>
          <a:xfrm>
            <a:off x="6797003" y="6570279"/>
            <a:ext cx="3244771" cy="28771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300" dirty="0"/>
              <a:t>[Image Source: </a:t>
            </a:r>
            <a:r>
              <a:rPr lang="en-US" sz="1300" dirty="0" err="1"/>
              <a:t>www.eveonline.com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309001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9620E5-6EAE-AE4E-ED16-3228DC4D9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0" name="Rectangle 1039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2" name="Rectangle 1041">
            <a:extLst>
              <a:ext uri="{FF2B5EF4-FFF2-40B4-BE49-F238E27FC236}">
                <a16:creationId xmlns:a16="http://schemas.microsoft.com/office/drawing/2014/main" id="{676D6CDF-C512-4739-B158-55EE955E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2DB8CD-E1A3-D432-F343-AD7DE772B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3" y="670559"/>
            <a:ext cx="4683321" cy="2148841"/>
          </a:xfrm>
        </p:spPr>
        <p:txBody>
          <a:bodyPr anchor="t">
            <a:normAutofit/>
          </a:bodyPr>
          <a:lstStyle/>
          <a:p>
            <a:r>
              <a:rPr lang="en-US" sz="3700" dirty="0"/>
              <a:t>Data Context: </a:t>
            </a:r>
            <a:br>
              <a:rPr lang="en-US" sz="3700" dirty="0"/>
            </a:br>
            <a:r>
              <a:rPr lang="en-US" sz="3700" dirty="0"/>
              <a:t>Eve Online – </a:t>
            </a:r>
            <a:br>
              <a:rPr lang="en-US" sz="3700" dirty="0"/>
            </a:br>
            <a:r>
              <a:rPr lang="en-US" sz="3700" dirty="0"/>
              <a:t>spreadsheets in space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1D03EA3-5E4B-39EE-70D2-9077D9DE51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45" b="-2"/>
          <a:stretch>
            <a:fillRect/>
          </a:stretch>
        </p:blipFill>
        <p:spPr bwMode="auto">
          <a:xfrm>
            <a:off x="1" y="3105151"/>
            <a:ext cx="6448424" cy="3752849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039F6-E07B-55A2-120E-E7CB46EFA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7004" y="670559"/>
            <a:ext cx="4555782" cy="5980221"/>
          </a:xfrm>
        </p:spPr>
        <p:txBody>
          <a:bodyPr anchor="t">
            <a:normAutofit lnSpcReduction="10000"/>
          </a:bodyPr>
          <a:lstStyle/>
          <a:p>
            <a:r>
              <a:rPr lang="en-US" sz="1400" b="1" dirty="0"/>
              <a:t>INDUSTRY &amp; ECONOMY COMPLEXITY</a:t>
            </a:r>
          </a:p>
          <a:p>
            <a:pPr lvl="1"/>
            <a:r>
              <a:rPr lang="en-US" sz="1200" b="1" dirty="0"/>
              <a:t>Production Chain Tiers:</a:t>
            </a:r>
            <a:endParaRPr lang="en-US" sz="1200" dirty="0"/>
          </a:p>
          <a:p>
            <a:pPr lvl="2"/>
            <a:r>
              <a:rPr lang="en-US" sz="1000" b="1" dirty="0"/>
              <a:t>Multi-tier manufacturing</a:t>
            </a:r>
            <a:r>
              <a:rPr lang="en-US" sz="1000" dirty="0"/>
              <a:t>: Production chains can go 5+ levels deep </a:t>
            </a:r>
          </a:p>
          <a:p>
            <a:pPr lvl="2"/>
            <a:r>
              <a:rPr lang="en-US" sz="1000" dirty="0"/>
              <a:t>Raw materials (ores, gases, planetary resources)</a:t>
            </a:r>
          </a:p>
          <a:p>
            <a:pPr lvl="2"/>
            <a:r>
              <a:rPr lang="en-US" sz="1000" dirty="0"/>
              <a:t>Processed materials (minerals, P1 planetary commodities)</a:t>
            </a:r>
          </a:p>
          <a:p>
            <a:pPr lvl="2"/>
            <a:r>
              <a:rPr lang="en-US" sz="1000" dirty="0"/>
              <a:t>Intermediate components (P2, P3 planetary commodities)</a:t>
            </a:r>
          </a:p>
          <a:p>
            <a:pPr lvl="2"/>
            <a:r>
              <a:rPr lang="en-US" sz="1000" dirty="0"/>
              <a:t>Advanced components (P4, moon reaction products, T2 components)</a:t>
            </a:r>
          </a:p>
          <a:p>
            <a:pPr lvl="2"/>
            <a:r>
              <a:rPr lang="en-US" sz="1000" dirty="0"/>
              <a:t>Final products (ships, modules, ammunition)</a:t>
            </a:r>
          </a:p>
          <a:p>
            <a:pPr lvl="1"/>
            <a:r>
              <a:rPr lang="en-US" sz="1200" b="1" dirty="0"/>
              <a:t>Material Sources:</a:t>
            </a:r>
            <a:endParaRPr lang="en-US" sz="1200" dirty="0"/>
          </a:p>
          <a:p>
            <a:pPr lvl="2"/>
            <a:r>
              <a:rPr lang="en-US" sz="1000" b="1" dirty="0"/>
              <a:t>Mining</a:t>
            </a:r>
            <a:r>
              <a:rPr lang="en-US" sz="1000" dirty="0"/>
              <a:t>: 16+ ore types producing various minerals</a:t>
            </a:r>
          </a:p>
          <a:p>
            <a:pPr lvl="2"/>
            <a:r>
              <a:rPr lang="en-US" sz="1000" b="1" dirty="0"/>
              <a:t>Moon Mining</a:t>
            </a:r>
            <a:r>
              <a:rPr lang="en-US" sz="1000" dirty="0"/>
              <a:t>: Raw moon materials → Processed materials → Complex materials</a:t>
            </a:r>
          </a:p>
          <a:p>
            <a:pPr lvl="2"/>
            <a:r>
              <a:rPr lang="en-US" sz="1000" b="1" dirty="0"/>
              <a:t>Planetary Industry</a:t>
            </a:r>
            <a:r>
              <a:rPr lang="en-US" sz="1000" dirty="0"/>
              <a:t>: 4-tier system (P0→P1→P2→P3→P4)</a:t>
            </a:r>
          </a:p>
          <a:p>
            <a:pPr lvl="2"/>
            <a:r>
              <a:rPr lang="en-US" sz="1000" b="1" dirty="0"/>
              <a:t>Gas Harvesting</a:t>
            </a:r>
            <a:r>
              <a:rPr lang="en-US" sz="1000" dirty="0"/>
              <a:t>: Multiple gas types for booster and T3 production</a:t>
            </a:r>
          </a:p>
          <a:p>
            <a:pPr lvl="2"/>
            <a:r>
              <a:rPr lang="en-US" sz="1000" b="1" dirty="0"/>
              <a:t>Reactions</a:t>
            </a:r>
            <a:r>
              <a:rPr lang="en-US" sz="1000" dirty="0"/>
              <a:t>: Combining materials to create advanced components</a:t>
            </a:r>
          </a:p>
          <a:p>
            <a:pPr lvl="1"/>
            <a:r>
              <a:rPr lang="en-US" sz="1200" b="1" dirty="0"/>
              <a:t>Manufacturing Types: </a:t>
            </a:r>
          </a:p>
          <a:p>
            <a:pPr lvl="2"/>
            <a:r>
              <a:rPr lang="en-US" sz="1000" b="1" dirty="0"/>
              <a:t>Tech 1</a:t>
            </a:r>
            <a:r>
              <a:rPr lang="en-US" sz="1000" dirty="0"/>
              <a:t>: Simpler production using mainly minerals</a:t>
            </a:r>
          </a:p>
          <a:p>
            <a:pPr lvl="2"/>
            <a:r>
              <a:rPr lang="en-US" sz="1000" b="1" dirty="0"/>
              <a:t>Tech 2</a:t>
            </a:r>
            <a:r>
              <a:rPr lang="en-US" sz="1000" dirty="0"/>
              <a:t>: Requires invention process + moon materials + planetary materials + T1 base items</a:t>
            </a:r>
          </a:p>
          <a:p>
            <a:pPr lvl="2"/>
            <a:r>
              <a:rPr lang="en-US" sz="1000" b="1" dirty="0"/>
              <a:t>Tech 3</a:t>
            </a:r>
            <a:r>
              <a:rPr lang="en-US" sz="1000" dirty="0"/>
              <a:t>: Requires wormhole materials + complex reactions</a:t>
            </a:r>
          </a:p>
          <a:p>
            <a:pPr lvl="2"/>
            <a:r>
              <a:rPr lang="en-US" sz="1000" b="1" dirty="0"/>
              <a:t>Capital ships</a:t>
            </a:r>
            <a:r>
              <a:rPr lang="en-US" sz="1000" dirty="0"/>
              <a:t>: Require components from multiple production chains</a:t>
            </a:r>
          </a:p>
          <a:p>
            <a:pPr lvl="2"/>
            <a:r>
              <a:rPr lang="en-US" sz="1000" b="1" dirty="0" err="1"/>
              <a:t>Supercapitals</a:t>
            </a:r>
            <a:r>
              <a:rPr lang="en-US" sz="1000" dirty="0"/>
              <a:t>: Multi-month build times with dozens of component types (multi-year blueprint research!)</a:t>
            </a:r>
          </a:p>
          <a:p>
            <a:pPr lvl="1"/>
            <a:r>
              <a:rPr lang="en-US" sz="1200" b="1" dirty="0"/>
              <a:t>Data Accessibility</a:t>
            </a:r>
            <a:endParaRPr lang="en-US" sz="1200" dirty="0"/>
          </a:p>
          <a:p>
            <a:pPr lvl="2"/>
            <a:r>
              <a:rPr lang="en-US" sz="1000" b="1" dirty="0"/>
              <a:t>Static Data Export (SDE)</a:t>
            </a:r>
            <a:r>
              <a:rPr lang="en-US" sz="1000" dirty="0"/>
              <a:t>: Complete game database dumps</a:t>
            </a:r>
          </a:p>
          <a:p>
            <a:pPr lvl="2"/>
            <a:r>
              <a:rPr lang="en-US" sz="1000" b="1" dirty="0"/>
              <a:t>ESI API</a:t>
            </a:r>
            <a:r>
              <a:rPr lang="en-US" sz="1000" dirty="0"/>
              <a:t>: RESTful API for real-time character, market, and universe data</a:t>
            </a:r>
          </a:p>
          <a:p>
            <a:pPr lvl="2"/>
            <a:r>
              <a:rPr lang="en-US" sz="1000" b="1" dirty="0"/>
              <a:t>Excel</a:t>
            </a:r>
            <a:r>
              <a:rPr lang="en-US" sz="1000" dirty="0"/>
              <a:t>: Official Excel plugin available</a:t>
            </a:r>
          </a:p>
          <a:p>
            <a:pPr marL="0" indent="0">
              <a:buNone/>
            </a:pPr>
            <a:endParaRPr lang="en-US" sz="7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5E0C90-9AE4-7A99-EB23-6045DBA7E75C}"/>
              </a:ext>
            </a:extLst>
          </p:cNvPr>
          <p:cNvSpPr txBox="1"/>
          <p:nvPr/>
        </p:nvSpPr>
        <p:spPr>
          <a:xfrm>
            <a:off x="6797003" y="6570279"/>
            <a:ext cx="3244771" cy="28771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300" dirty="0"/>
              <a:t>[Image Source: </a:t>
            </a:r>
            <a:r>
              <a:rPr lang="en-US" sz="1300" dirty="0" err="1"/>
              <a:t>www.eveonline.com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990775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E8A1F4-8B50-120D-6D43-443F1409D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1" name="Rectangle 6150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3" name="Rectangle 6152">
            <a:extLst>
              <a:ext uri="{FF2B5EF4-FFF2-40B4-BE49-F238E27FC236}">
                <a16:creationId xmlns:a16="http://schemas.microsoft.com/office/drawing/2014/main" id="{676D6CDF-C512-4739-B158-55EE955E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C260B6-6909-BB58-D527-F4EF48643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3" y="670559"/>
            <a:ext cx="4683321" cy="2148841"/>
          </a:xfrm>
        </p:spPr>
        <p:txBody>
          <a:bodyPr anchor="t">
            <a:normAutofit/>
          </a:bodyPr>
          <a:lstStyle/>
          <a:p>
            <a:r>
              <a:rPr lang="en-US" sz="3700" dirty="0"/>
              <a:t>Data Context: </a:t>
            </a:r>
            <a:br>
              <a:rPr lang="en-US" sz="3700" dirty="0"/>
            </a:br>
            <a:r>
              <a:rPr lang="en-US" sz="3700" dirty="0"/>
              <a:t>Eve Online – </a:t>
            </a:r>
            <a:br>
              <a:rPr lang="en-US" sz="3700" dirty="0"/>
            </a:br>
            <a:r>
              <a:rPr lang="en-US" sz="3700" dirty="0"/>
              <a:t>real world headlines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6AF09DDE-1CF6-4B48-9E17-9A15D2A441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7" r="-2" b="-2"/>
          <a:stretch>
            <a:fillRect/>
          </a:stretch>
        </p:blipFill>
        <p:spPr bwMode="auto">
          <a:xfrm>
            <a:off x="1" y="3105151"/>
            <a:ext cx="6448424" cy="3752849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BB216-57FC-9AB2-B8D2-29F1D4822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7004" y="670559"/>
            <a:ext cx="4555782" cy="5445076"/>
          </a:xfrm>
        </p:spPr>
        <p:txBody>
          <a:bodyPr anchor="t">
            <a:normAutofit lnSpcReduction="10000"/>
          </a:bodyPr>
          <a:lstStyle/>
          <a:p>
            <a:r>
              <a:rPr lang="en-US" sz="1600" b="1" dirty="0"/>
              <a:t>Bloodbath of B-R5RB</a:t>
            </a:r>
            <a:r>
              <a:rPr lang="en-US" sz="1600" dirty="0"/>
              <a:t> (2014) </a:t>
            </a:r>
          </a:p>
          <a:p>
            <a:pPr lvl="1"/>
            <a:r>
              <a:rPr lang="en-US" sz="1200" dirty="0"/>
              <a:t>Biggest battle in gaming history, $300,000+ in losses</a:t>
            </a:r>
          </a:p>
          <a:p>
            <a:pPr lvl="2"/>
            <a:r>
              <a:rPr lang="en-US" sz="600" dirty="0">
                <a:hlinkClick r:id="rId4"/>
              </a:rPr>
              <a:t>https://www.eveonline.com/news/view/the-bloodbath-of-b-r5rb</a:t>
            </a:r>
            <a:endParaRPr lang="en-US" sz="600" dirty="0"/>
          </a:p>
          <a:p>
            <a:pPr lvl="2"/>
            <a:r>
              <a:rPr lang="en-US" sz="600" dirty="0">
                <a:hlinkClick r:id="rId5"/>
              </a:rPr>
              <a:t>https://www.bbc.com/news/technology-25944837</a:t>
            </a:r>
            <a:endParaRPr lang="en-US" sz="600" dirty="0"/>
          </a:p>
          <a:p>
            <a:pPr lvl="2"/>
            <a:r>
              <a:rPr lang="en-US" sz="600" dirty="0">
                <a:hlinkClick r:id="rId6"/>
              </a:rPr>
              <a:t>https://en.wikipedia.org/wiki/Battle_of_B-R5RB</a:t>
            </a:r>
            <a:endParaRPr lang="en-US" sz="600" dirty="0"/>
          </a:p>
          <a:p>
            <a:pPr lvl="1"/>
            <a:endParaRPr lang="en-US" sz="1100" dirty="0"/>
          </a:p>
          <a:p>
            <a:r>
              <a:rPr lang="en-US" sz="1600" b="1" dirty="0"/>
              <a:t>Guiding Hand Social Club Heist </a:t>
            </a:r>
            <a:r>
              <a:rPr lang="en-US" sz="1600" dirty="0"/>
              <a:t>(2005)</a:t>
            </a:r>
          </a:p>
          <a:p>
            <a:pPr lvl="1"/>
            <a:r>
              <a:rPr lang="en-US" sz="1200" dirty="0"/>
              <a:t>Player spent 10+ months social engineering and climbing ranks in a </a:t>
            </a:r>
            <a:r>
              <a:rPr lang="en-US" sz="1200" dirty="0" err="1"/>
              <a:t>coporation</a:t>
            </a:r>
            <a:r>
              <a:rPr lang="en-US" sz="1200" dirty="0"/>
              <a:t>.</a:t>
            </a:r>
          </a:p>
          <a:p>
            <a:pPr lvl="1"/>
            <a:r>
              <a:rPr lang="en-US" sz="1200" dirty="0"/>
              <a:t>$16’000 stolen</a:t>
            </a:r>
          </a:p>
          <a:p>
            <a:pPr lvl="2"/>
            <a:r>
              <a:rPr lang="en-US" sz="800" dirty="0">
                <a:hlinkClick r:id="rId7"/>
              </a:rPr>
              <a:t>https://www.pcgamer.com/murder-incorporated-ten-months-of-deception-for-one-kill-in-eve-online/</a:t>
            </a:r>
            <a:endParaRPr lang="en-US" sz="800" dirty="0"/>
          </a:p>
          <a:p>
            <a:pPr lvl="2"/>
            <a:r>
              <a:rPr lang="en-US" sz="700" dirty="0">
                <a:hlinkClick r:id="rId8"/>
              </a:rPr>
              <a:t>https://www.guinnessworldrecords.com/world-records/88183-most-hostile-corporate-takeover-in-eve-online</a:t>
            </a:r>
            <a:endParaRPr lang="en-US" sz="700" dirty="0"/>
          </a:p>
          <a:p>
            <a:endParaRPr lang="en-US" sz="1500" dirty="0"/>
          </a:p>
          <a:p>
            <a:r>
              <a:rPr lang="en-US" sz="1600" b="1" dirty="0"/>
              <a:t>Academic papers</a:t>
            </a:r>
          </a:p>
          <a:p>
            <a:pPr lvl="1"/>
            <a:r>
              <a:rPr lang="en-US" sz="1200" dirty="0"/>
              <a:t>EVE Online is not for Everyone: Exceptionalism in Online Gaming Cultures</a:t>
            </a:r>
          </a:p>
          <a:p>
            <a:pPr lvl="2"/>
            <a:r>
              <a:rPr lang="en-US" sz="800" b="1" dirty="0">
                <a:hlinkClick r:id="rId9"/>
              </a:rPr>
              <a:t>https://minds.wisconsin.edu/bitstream/handle/1793/79143/11460%20OshScholar18%20Smith.pdf?sequence=1&amp;isAllowed=y</a:t>
            </a:r>
            <a:endParaRPr lang="en-US" sz="800" b="1" dirty="0"/>
          </a:p>
          <a:p>
            <a:pPr lvl="1"/>
            <a:r>
              <a:rPr lang="en-US" sz="1200" dirty="0"/>
              <a:t>EVE: Online as a Potential Microeconomic Model</a:t>
            </a:r>
            <a:endParaRPr lang="en-US" sz="1200" b="1" dirty="0"/>
          </a:p>
          <a:p>
            <a:pPr lvl="2"/>
            <a:r>
              <a:rPr lang="en-US" sz="800" dirty="0">
                <a:hlinkClick r:id="rId10"/>
              </a:rPr>
              <a:t>https://www.researchgate.net/publication/337645762_EVE_Online_is_not_for_Everyone_Exceptionalism_in_Online_Gaming_Cultures</a:t>
            </a:r>
            <a:endParaRPr lang="en-US" sz="800" dirty="0"/>
          </a:p>
          <a:p>
            <a:pPr lvl="1"/>
            <a:r>
              <a:rPr lang="en-US" sz="1200" dirty="0"/>
              <a:t>Minerals, Titans, and Connections: The Political Economy of Empire in the World of EVE Online</a:t>
            </a:r>
          </a:p>
          <a:p>
            <a:pPr lvl="2"/>
            <a:r>
              <a:rPr lang="en-US" sz="800" b="1" dirty="0">
                <a:hlinkClick r:id="rId11"/>
              </a:rPr>
              <a:t>https://www.cambridge.org/core/books/abs/invisible-hand-in-virtual-worlds/minerals-titans-and-connections-the-political-economy-of-empire-in-the-world-of-eve-online/D35784F90EF7098ACD4E8582F6F77920</a:t>
            </a:r>
            <a:endParaRPr lang="en-US" sz="800" b="1" dirty="0"/>
          </a:p>
          <a:p>
            <a:pPr lvl="1"/>
            <a:r>
              <a:rPr lang="en-US" sz="1200" b="1" dirty="0"/>
              <a:t>…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7F2595-B0DC-1260-9198-618822AD422C}"/>
              </a:ext>
            </a:extLst>
          </p:cNvPr>
          <p:cNvSpPr txBox="1"/>
          <p:nvPr/>
        </p:nvSpPr>
        <p:spPr>
          <a:xfrm>
            <a:off x="6797003" y="6570279"/>
            <a:ext cx="3244771" cy="28771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300" dirty="0"/>
              <a:t>[Image Source: </a:t>
            </a:r>
            <a:r>
              <a:rPr lang="en-US" sz="1300" dirty="0" err="1"/>
              <a:t>www.eveonline.com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271793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9AC08-0EA0-4F24-965B-9815F35DD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DA7A4-1387-8AF7-DC00-359C143A1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Understanding market prices and real trading volumes is key to industrial production planning and market trading.</a:t>
            </a:r>
          </a:p>
          <a:p>
            <a:r>
              <a:rPr lang="en-US" dirty="0"/>
              <a:t>The game does not publish the buy and sell volume and prices directly.</a:t>
            </a:r>
          </a:p>
          <a:p>
            <a:r>
              <a:rPr lang="en-US" dirty="0"/>
              <a:t>The games does publish the currently open orders through a REST API.</a:t>
            </a:r>
          </a:p>
          <a:p>
            <a:endParaRPr lang="en-US" dirty="0"/>
          </a:p>
          <a:p>
            <a:r>
              <a:rPr lang="en-US" dirty="0"/>
              <a:t>Purpose:</a:t>
            </a:r>
          </a:p>
          <a:p>
            <a:pPr lvl="1"/>
            <a:r>
              <a:rPr lang="en-US" dirty="0"/>
              <a:t>Capture the order book snapshots and store the data for further analysis</a:t>
            </a:r>
          </a:p>
          <a:p>
            <a:pPr lvl="1"/>
            <a:r>
              <a:rPr lang="en-US" dirty="0"/>
              <a:t>Extract market insights</a:t>
            </a:r>
          </a:p>
        </p:txBody>
      </p:sp>
    </p:spTree>
    <p:extLst>
      <p:ext uri="{BB962C8B-B14F-4D97-AF65-F5344CB8AC3E}">
        <p14:creationId xmlns:p14="http://schemas.microsoft.com/office/powerpoint/2010/main" val="2736928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224FA-12BE-103C-0358-F3154EEE5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EA60E-0AA4-F160-8EA3-B0D94A890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846127" cy="4351338"/>
          </a:xfrm>
        </p:spPr>
        <p:txBody>
          <a:bodyPr/>
          <a:lstStyle/>
          <a:p>
            <a:r>
              <a:rPr lang="en-US" b="1" dirty="0"/>
              <a:t>API: List orders in a region</a:t>
            </a:r>
            <a:endParaRPr lang="en-US" dirty="0"/>
          </a:p>
          <a:p>
            <a:pPr lvl="1"/>
            <a:r>
              <a:rPr lang="en-US" dirty="0">
                <a:hlinkClick r:id="rId2"/>
              </a:rPr>
              <a:t>https://developers.eveonline.com/api-explorer#/operations/GetMarketsRegionIdOrders</a:t>
            </a:r>
            <a:endParaRPr lang="en-US" dirty="0"/>
          </a:p>
          <a:p>
            <a:r>
              <a:rPr lang="en-US" dirty="0"/>
              <a:t>https://esi.evetech.net</a:t>
            </a:r>
            <a:r>
              <a:rPr lang="en-US" b="1" dirty="0"/>
              <a:t>/markets/{region_id}/orders</a:t>
            </a:r>
          </a:p>
          <a:p>
            <a:r>
              <a:rPr lang="en-US" dirty="0" err="1"/>
              <a:t>region_id</a:t>
            </a:r>
            <a:r>
              <a:rPr lang="en-US" dirty="0"/>
              <a:t>: 10000002 (The Forge – most active trade region)</a:t>
            </a:r>
          </a:p>
          <a:p>
            <a:r>
              <a:rPr lang="en-US" dirty="0"/>
              <a:t>current snapshot is cached for 5 minutes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532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B3C12-85F0-E1D1-3473-F1B361ADB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54E29-74C6-927F-48CC-7317ADE5B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0059" y="609600"/>
            <a:ext cx="4760421" cy="1330839"/>
          </a:xfrm>
        </p:spPr>
        <p:txBody>
          <a:bodyPr>
            <a:normAutofit/>
          </a:bodyPr>
          <a:lstStyle/>
          <a:p>
            <a:r>
              <a:rPr lang="en-US" dirty="0"/>
              <a:t>Technical 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A53DB-42C8-C7DD-6EC7-7E99141CF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0059" y="2194102"/>
            <a:ext cx="4760420" cy="3908586"/>
          </a:xfrm>
        </p:spPr>
        <p:txBody>
          <a:bodyPr>
            <a:normAutofit/>
          </a:bodyPr>
          <a:lstStyle/>
          <a:p>
            <a:r>
              <a:rPr lang="en-US" dirty="0"/>
              <a:t>Problem:</a:t>
            </a:r>
          </a:p>
          <a:p>
            <a:pPr lvl="1"/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The market order </a:t>
            </a:r>
            <a:r>
              <a:rPr lang="en-US" dirty="0" err="1">
                <a:solidFill>
                  <a:schemeClr val="tx1">
                    <a:alpha val="80000"/>
                  </a:schemeClr>
                </a:solidFill>
              </a:rPr>
              <a:t>api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 returns about 400k open orders for this region.</a:t>
            </a:r>
          </a:p>
          <a:p>
            <a:pPr lvl="1"/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The raw </a:t>
            </a:r>
            <a:r>
              <a:rPr lang="en-US" dirty="0" err="1">
                <a:solidFill>
                  <a:schemeClr val="tx1">
                    <a:alpha val="80000"/>
                  </a:schemeClr>
                </a:solidFill>
              </a:rPr>
              <a:t>json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 output is huge (120MB)</a:t>
            </a:r>
          </a:p>
          <a:p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Solution:</a:t>
            </a:r>
          </a:p>
          <a:p>
            <a:pPr lvl="1"/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Compression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05C0F69F-E1BA-E231-D91C-D7A65329C59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9E037C-F5FF-E6C0-D142-8AF25237A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671" y="609600"/>
            <a:ext cx="3624112" cy="44338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F89305-D3E6-396C-ABEF-DA294ED24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671" y="5140036"/>
            <a:ext cx="5674951" cy="733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879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39B0AB-7CD6-3F16-C7E7-996148053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76D6CDF-C512-4739-B158-55EE955E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55301E-CD9F-B901-728F-FD3894E0B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3" y="670559"/>
            <a:ext cx="4683321" cy="2148841"/>
          </a:xfrm>
        </p:spPr>
        <p:txBody>
          <a:bodyPr anchor="t">
            <a:normAutofit/>
          </a:bodyPr>
          <a:lstStyle/>
          <a:p>
            <a:r>
              <a:rPr lang="en-US"/>
              <a:t>Stage 1: </a:t>
            </a:r>
            <a:br>
              <a:rPr lang="en-US"/>
            </a:br>
            <a:r>
              <a:rPr lang="en-US"/>
              <a:t>JSON to Parquet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D7257C-18EC-D13F-BF4E-D40D1DF8A6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493" b="-2"/>
          <a:stretch>
            <a:fillRect/>
          </a:stretch>
        </p:blipFill>
        <p:spPr>
          <a:xfrm>
            <a:off x="1" y="3105151"/>
            <a:ext cx="6448424" cy="3752849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A26E7-6D9C-6120-2771-AC535CAD3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7004" y="670559"/>
            <a:ext cx="4555782" cy="5445076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100" b="1"/>
              <a:t>1. Dictionary Encoding:</a:t>
            </a:r>
            <a:endParaRPr lang="en-US" sz="1100"/>
          </a:p>
          <a:p>
            <a:r>
              <a:rPr lang="en-US" sz="1100"/>
              <a:t>Replaces repeated values with small integer references</a:t>
            </a:r>
          </a:p>
          <a:p>
            <a:r>
              <a:rPr lang="en-US" sz="1100"/>
              <a:t>Example: If the region_id appears 400k times, store it once + 400k tiny references</a:t>
            </a:r>
          </a:p>
          <a:p>
            <a:r>
              <a:rPr lang="en-US" sz="1100"/>
              <a:t>Extremely effective for fields with limited unique values (type IDs, locations, buy/sell flags)</a:t>
            </a:r>
            <a:br>
              <a:rPr lang="en-US" sz="1100"/>
            </a:br>
            <a:endParaRPr lang="en-US" sz="1100"/>
          </a:p>
          <a:p>
            <a:pPr marL="0" indent="0">
              <a:buNone/>
            </a:pPr>
            <a:r>
              <a:rPr lang="en-US" sz="1100" b="1"/>
              <a:t>2. Snappy Compression:</a:t>
            </a:r>
            <a:endParaRPr lang="en-US" sz="1100"/>
          </a:p>
          <a:p>
            <a:r>
              <a:rPr lang="en-US" sz="1100"/>
              <a:t>Fast, general-purpose compression algorithm by google, applied after encoding</a:t>
            </a:r>
          </a:p>
          <a:p>
            <a:r>
              <a:rPr lang="en-US" sz="1100"/>
              <a:t>Prioritizes speed over maximum compression (still achieves 2-4× reduction)</a:t>
            </a:r>
          </a:p>
          <a:p>
            <a:r>
              <a:rPr lang="en-US" sz="1100"/>
              <a:t>Unlike gzip/zstd, optimized for decompression speed in analytics workloads</a:t>
            </a:r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 b="1"/>
              <a:t>3. Type Efficiency:</a:t>
            </a:r>
            <a:endParaRPr lang="en-US" sz="1100"/>
          </a:p>
          <a:p>
            <a:r>
              <a:rPr lang="en-US" sz="1100"/>
              <a:t>Binary encoding vs. text representation</a:t>
            </a:r>
          </a:p>
          <a:p>
            <a:r>
              <a:rPr lang="en-US" sz="1100"/>
              <a:t>Example: The number </a:t>
            </a:r>
            <a:r>
              <a:rPr lang="en-US" sz="1100" i="1"/>
              <a:t>`123456789` </a:t>
            </a:r>
          </a:p>
          <a:p>
            <a:pPr lvl="1"/>
            <a:r>
              <a:rPr lang="en-US" sz="1100" b="1"/>
              <a:t>9 bytes</a:t>
            </a:r>
            <a:r>
              <a:rPr lang="en-US" sz="1100"/>
              <a:t> in JSON (ASCII) </a:t>
            </a:r>
            <a:r>
              <a:rPr lang="en-US" sz="1100" b="1"/>
              <a:t>4 bytes</a:t>
            </a:r>
            <a:r>
              <a:rPr lang="en-US" sz="1100"/>
              <a:t> in Parquet (32-bit integer)</a:t>
            </a:r>
          </a:p>
          <a:p>
            <a:r>
              <a:rPr lang="en-US" sz="1100"/>
              <a:t>Timestamps, floats, booleans all stored in compact binary form</a:t>
            </a:r>
          </a:p>
          <a:p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560513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5015AD-28F4-9B1B-DD0E-9BFDBE457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23E547B5-89CF-4EC0-96DE-25771AED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F0B8CEB-8279-4E5E-A0CE-1FC9F7173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782" y="0"/>
            <a:ext cx="7421217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69A698-E5B3-C1EE-08AF-D02EC32E6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0466" y="609600"/>
            <a:ext cx="4140014" cy="1330839"/>
          </a:xfrm>
        </p:spPr>
        <p:txBody>
          <a:bodyPr>
            <a:normAutofit/>
          </a:bodyPr>
          <a:lstStyle/>
          <a:p>
            <a:r>
              <a:rPr lang="en-US"/>
              <a:t>Better but not enough…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E1E0B5-A657-5D5D-350A-AC7A4769E0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13" r="1" b="1"/>
          <a:stretch>
            <a:fillRect/>
          </a:stretch>
        </p:blipFill>
        <p:spPr>
          <a:xfrm>
            <a:off x="20" y="10"/>
            <a:ext cx="6901711" cy="6857990"/>
          </a:xfrm>
          <a:custGeom>
            <a:avLst/>
            <a:gdLst/>
            <a:ahLst/>
            <a:cxnLst/>
            <a:rect l="l" t="t" r="r" b="b"/>
            <a:pathLst>
              <a:path w="6901731" h="6858000">
                <a:moveTo>
                  <a:pt x="0" y="0"/>
                </a:moveTo>
                <a:lnTo>
                  <a:pt x="6897896" y="5958"/>
                </a:lnTo>
                <a:lnTo>
                  <a:pt x="6866823" y="62592"/>
                </a:lnTo>
                <a:lnTo>
                  <a:pt x="6901731" y="89476"/>
                </a:lnTo>
                <a:lnTo>
                  <a:pt x="6901731" y="103833"/>
                </a:lnTo>
                <a:lnTo>
                  <a:pt x="6900034" y="110092"/>
                </a:lnTo>
                <a:lnTo>
                  <a:pt x="6901731" y="113679"/>
                </a:lnTo>
                <a:lnTo>
                  <a:pt x="6901731" y="405560"/>
                </a:lnTo>
                <a:lnTo>
                  <a:pt x="6900456" y="429509"/>
                </a:lnTo>
                <a:cubicBezTo>
                  <a:pt x="6892773" y="535647"/>
                  <a:pt x="6878314" y="537918"/>
                  <a:pt x="6886342" y="636808"/>
                </a:cubicBezTo>
                <a:cubicBezTo>
                  <a:pt x="6892506" y="756883"/>
                  <a:pt x="6864504" y="771443"/>
                  <a:pt x="6851784" y="839073"/>
                </a:cubicBezTo>
                <a:cubicBezTo>
                  <a:pt x="6838675" y="892655"/>
                  <a:pt x="6864124" y="961738"/>
                  <a:pt x="6845760" y="994930"/>
                </a:cubicBezTo>
                <a:cubicBezTo>
                  <a:pt x="6833572" y="1024166"/>
                  <a:pt x="6859282" y="1058905"/>
                  <a:pt x="6845601" y="1112932"/>
                </a:cubicBezTo>
                <a:cubicBezTo>
                  <a:pt x="6838700" y="1149910"/>
                  <a:pt x="6829138" y="1151035"/>
                  <a:pt x="6820235" y="1187433"/>
                </a:cubicBezTo>
                <a:cubicBezTo>
                  <a:pt x="6815504" y="1196464"/>
                  <a:pt x="6777707" y="1338549"/>
                  <a:pt x="6759643" y="1337010"/>
                </a:cubicBezTo>
                <a:cubicBezTo>
                  <a:pt x="6737660" y="1337296"/>
                  <a:pt x="6760650" y="1396341"/>
                  <a:pt x="6736375" y="1382272"/>
                </a:cubicBezTo>
                <a:cubicBezTo>
                  <a:pt x="6755741" y="1415836"/>
                  <a:pt x="6714675" y="1414567"/>
                  <a:pt x="6701292" y="1432111"/>
                </a:cubicBezTo>
                <a:cubicBezTo>
                  <a:pt x="6721110" y="1460185"/>
                  <a:pt x="6692106" y="1490815"/>
                  <a:pt x="6686578" y="1518624"/>
                </a:cubicBezTo>
                <a:cubicBezTo>
                  <a:pt x="6682512" y="1567002"/>
                  <a:pt x="6679579" y="1571443"/>
                  <a:pt x="6670824" y="1607743"/>
                </a:cubicBezTo>
                <a:cubicBezTo>
                  <a:pt x="6671133" y="1629590"/>
                  <a:pt x="6663161" y="1656870"/>
                  <a:pt x="6664392" y="1696405"/>
                </a:cubicBezTo>
                <a:cubicBezTo>
                  <a:pt x="6655686" y="1770486"/>
                  <a:pt x="6641938" y="1757082"/>
                  <a:pt x="6642880" y="1812372"/>
                </a:cubicBezTo>
                <a:cubicBezTo>
                  <a:pt x="6638579" y="1872475"/>
                  <a:pt x="6619231" y="1825476"/>
                  <a:pt x="6612547" y="1876437"/>
                </a:cubicBezTo>
                <a:cubicBezTo>
                  <a:pt x="6600695" y="1913834"/>
                  <a:pt x="6591061" y="1923231"/>
                  <a:pt x="6571760" y="1953331"/>
                </a:cubicBezTo>
                <a:cubicBezTo>
                  <a:pt x="6561039" y="1989021"/>
                  <a:pt x="6544090" y="2087896"/>
                  <a:pt x="6520213" y="2096455"/>
                </a:cubicBezTo>
                <a:lnTo>
                  <a:pt x="6492461" y="2188148"/>
                </a:lnTo>
                <a:cubicBezTo>
                  <a:pt x="6504372" y="2211333"/>
                  <a:pt x="6489131" y="2253220"/>
                  <a:pt x="6471854" y="2259117"/>
                </a:cubicBezTo>
                <a:cubicBezTo>
                  <a:pt x="6466151" y="2287829"/>
                  <a:pt x="6440452" y="2301346"/>
                  <a:pt x="6439832" y="2328334"/>
                </a:cubicBezTo>
                <a:cubicBezTo>
                  <a:pt x="6431013" y="2351201"/>
                  <a:pt x="6444250" y="2396409"/>
                  <a:pt x="6425162" y="2408211"/>
                </a:cubicBezTo>
                <a:lnTo>
                  <a:pt x="6417221" y="2427382"/>
                </a:lnTo>
                <a:lnTo>
                  <a:pt x="6425030" y="2464387"/>
                </a:lnTo>
                <a:lnTo>
                  <a:pt x="6406293" y="2472223"/>
                </a:lnTo>
                <a:cubicBezTo>
                  <a:pt x="6406862" y="2477277"/>
                  <a:pt x="6406486" y="2491723"/>
                  <a:pt x="6405400" y="2493547"/>
                </a:cubicBezTo>
                <a:lnTo>
                  <a:pt x="6374829" y="2532070"/>
                </a:lnTo>
                <a:cubicBezTo>
                  <a:pt x="6374597" y="2545374"/>
                  <a:pt x="6360976" y="2563797"/>
                  <a:pt x="6350864" y="2577422"/>
                </a:cubicBezTo>
                <a:cubicBezTo>
                  <a:pt x="6327056" y="2632768"/>
                  <a:pt x="6341262" y="2616275"/>
                  <a:pt x="6329174" y="2663854"/>
                </a:cubicBezTo>
                <a:cubicBezTo>
                  <a:pt x="6326303" y="2703642"/>
                  <a:pt x="6332854" y="2709643"/>
                  <a:pt x="6315095" y="2741507"/>
                </a:cubicBezTo>
                <a:cubicBezTo>
                  <a:pt x="6319921" y="2740191"/>
                  <a:pt x="6321925" y="2742004"/>
                  <a:pt x="6322463" y="2745641"/>
                </a:cubicBezTo>
                <a:cubicBezTo>
                  <a:pt x="6322245" y="2747982"/>
                  <a:pt x="6322027" y="2750323"/>
                  <a:pt x="6321808" y="2752663"/>
                </a:cubicBezTo>
                <a:lnTo>
                  <a:pt x="6314569" y="2756718"/>
                </a:lnTo>
                <a:cubicBezTo>
                  <a:pt x="6289324" y="2773686"/>
                  <a:pt x="6317551" y="2780051"/>
                  <a:pt x="6315211" y="2811618"/>
                </a:cubicBezTo>
                <a:cubicBezTo>
                  <a:pt x="6315620" y="2826627"/>
                  <a:pt x="6296047" y="2885298"/>
                  <a:pt x="6302211" y="2882314"/>
                </a:cubicBezTo>
                <a:lnTo>
                  <a:pt x="6286167" y="2949597"/>
                </a:lnTo>
                <a:cubicBezTo>
                  <a:pt x="6286401" y="2994618"/>
                  <a:pt x="6286615" y="2971464"/>
                  <a:pt x="6287037" y="3008578"/>
                </a:cubicBezTo>
                <a:cubicBezTo>
                  <a:pt x="6293795" y="3029535"/>
                  <a:pt x="6274405" y="3114154"/>
                  <a:pt x="6259150" y="3123139"/>
                </a:cubicBezTo>
                <a:cubicBezTo>
                  <a:pt x="6250085" y="3189063"/>
                  <a:pt x="6269067" y="3151280"/>
                  <a:pt x="6272249" y="3227854"/>
                </a:cubicBezTo>
                <a:cubicBezTo>
                  <a:pt x="6278775" y="3295842"/>
                  <a:pt x="6289216" y="3303765"/>
                  <a:pt x="6292288" y="3378383"/>
                </a:cubicBezTo>
                <a:cubicBezTo>
                  <a:pt x="6303894" y="3395995"/>
                  <a:pt x="6287498" y="3432581"/>
                  <a:pt x="6288328" y="3459618"/>
                </a:cubicBezTo>
                <a:cubicBezTo>
                  <a:pt x="6289158" y="3486653"/>
                  <a:pt x="6299937" y="3538735"/>
                  <a:pt x="6297272" y="3540603"/>
                </a:cubicBezTo>
                <a:cubicBezTo>
                  <a:pt x="6296849" y="3577379"/>
                  <a:pt x="6294184" y="3587943"/>
                  <a:pt x="6291001" y="3638374"/>
                </a:cubicBezTo>
                <a:cubicBezTo>
                  <a:pt x="6283026" y="3666794"/>
                  <a:pt x="6265833" y="3731744"/>
                  <a:pt x="6283592" y="3763609"/>
                </a:cubicBezTo>
                <a:cubicBezTo>
                  <a:pt x="6264286" y="3758340"/>
                  <a:pt x="6290177" y="3803150"/>
                  <a:pt x="6274068" y="3814506"/>
                </a:cubicBezTo>
                <a:cubicBezTo>
                  <a:pt x="6260645" y="3821643"/>
                  <a:pt x="6265372" y="3836902"/>
                  <a:pt x="6262850" y="3850454"/>
                </a:cubicBezTo>
                <a:cubicBezTo>
                  <a:pt x="6250418" y="3863479"/>
                  <a:pt x="6250660" y="3955243"/>
                  <a:pt x="6257357" y="3975474"/>
                </a:cubicBezTo>
                <a:cubicBezTo>
                  <a:pt x="6245091" y="4036737"/>
                  <a:pt x="6237535" y="4029237"/>
                  <a:pt x="6257889" y="4073155"/>
                </a:cubicBezTo>
                <a:cubicBezTo>
                  <a:pt x="6259272" y="4085906"/>
                  <a:pt x="6239882" y="4116397"/>
                  <a:pt x="6237441" y="4126638"/>
                </a:cubicBezTo>
                <a:lnTo>
                  <a:pt x="6245587" y="4172738"/>
                </a:lnTo>
                <a:lnTo>
                  <a:pt x="6235772" y="4176721"/>
                </a:lnTo>
                <a:lnTo>
                  <a:pt x="6233287" y="4195136"/>
                </a:lnTo>
                <a:lnTo>
                  <a:pt x="6234619" y="4280850"/>
                </a:lnTo>
                <a:cubicBezTo>
                  <a:pt x="6239453" y="4320763"/>
                  <a:pt x="6223309" y="4337596"/>
                  <a:pt x="6219318" y="4402526"/>
                </a:cubicBezTo>
                <a:cubicBezTo>
                  <a:pt x="6205466" y="4516209"/>
                  <a:pt x="6216183" y="4588729"/>
                  <a:pt x="6216810" y="4651172"/>
                </a:cubicBezTo>
                <a:cubicBezTo>
                  <a:pt x="6217673" y="4756959"/>
                  <a:pt x="6228654" y="4824005"/>
                  <a:pt x="6225945" y="4916779"/>
                </a:cubicBezTo>
                <a:cubicBezTo>
                  <a:pt x="6217032" y="4993010"/>
                  <a:pt x="6264271" y="4984591"/>
                  <a:pt x="6230174" y="5051379"/>
                </a:cubicBezTo>
                <a:cubicBezTo>
                  <a:pt x="6235713" y="5056951"/>
                  <a:pt x="6239420" y="5163714"/>
                  <a:pt x="6242600" y="5170879"/>
                </a:cubicBezTo>
                <a:lnTo>
                  <a:pt x="6235996" y="5216428"/>
                </a:lnTo>
                <a:lnTo>
                  <a:pt x="6214638" y="5285298"/>
                </a:lnTo>
                <a:cubicBezTo>
                  <a:pt x="6211392" y="5297492"/>
                  <a:pt x="6225576" y="5312063"/>
                  <a:pt x="6228432" y="5317696"/>
                </a:cubicBezTo>
                <a:lnTo>
                  <a:pt x="6246496" y="5398787"/>
                </a:lnTo>
                <a:lnTo>
                  <a:pt x="6244793" y="5399530"/>
                </a:lnTo>
                <a:lnTo>
                  <a:pt x="6241695" y="5406948"/>
                </a:lnTo>
                <a:lnTo>
                  <a:pt x="6267461" y="5499413"/>
                </a:lnTo>
                <a:cubicBezTo>
                  <a:pt x="6285387" y="5533848"/>
                  <a:pt x="6284888" y="5550029"/>
                  <a:pt x="6295987" y="5582659"/>
                </a:cubicBezTo>
                <a:cubicBezTo>
                  <a:pt x="6311253" y="5681724"/>
                  <a:pt x="6295439" y="5695558"/>
                  <a:pt x="6364803" y="5784263"/>
                </a:cubicBezTo>
                <a:cubicBezTo>
                  <a:pt x="6379348" y="5818651"/>
                  <a:pt x="6412475" y="5906802"/>
                  <a:pt x="6423050" y="5922637"/>
                </a:cubicBezTo>
                <a:cubicBezTo>
                  <a:pt x="6445210" y="5973612"/>
                  <a:pt x="6468179" y="6023873"/>
                  <a:pt x="6497767" y="6090108"/>
                </a:cubicBezTo>
                <a:cubicBezTo>
                  <a:pt x="6571895" y="6150548"/>
                  <a:pt x="6572491" y="6236583"/>
                  <a:pt x="6606710" y="6281543"/>
                </a:cubicBezTo>
                <a:cubicBezTo>
                  <a:pt x="6633675" y="6335892"/>
                  <a:pt x="6654357" y="6388782"/>
                  <a:pt x="6667540" y="6443715"/>
                </a:cubicBezTo>
                <a:cubicBezTo>
                  <a:pt x="6685192" y="6466826"/>
                  <a:pt x="6650500" y="6508701"/>
                  <a:pt x="6659722" y="6550105"/>
                </a:cubicBezTo>
                <a:cubicBezTo>
                  <a:pt x="6665926" y="6645044"/>
                  <a:pt x="6669126" y="6627536"/>
                  <a:pt x="6671805" y="6687397"/>
                </a:cubicBezTo>
                <a:cubicBezTo>
                  <a:pt x="6682671" y="6733683"/>
                  <a:pt x="6665210" y="6772117"/>
                  <a:pt x="6669658" y="6806602"/>
                </a:cubicBezTo>
                <a:cubicBezTo>
                  <a:pt x="6661174" y="6812658"/>
                  <a:pt x="6667097" y="6831470"/>
                  <a:pt x="6675783" y="6850325"/>
                </a:cubicBezTo>
                <a:lnTo>
                  <a:pt x="6679704" y="6858000"/>
                </a:lnTo>
                <a:lnTo>
                  <a:pt x="4532241" y="6858000"/>
                </a:lnTo>
                <a:lnTo>
                  <a:pt x="120859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D5837-A2AE-DAED-B5A3-C53A3524C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0465" y="2194102"/>
            <a:ext cx="4140013" cy="39085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288 snapshots per day at 9.5MB still results in 2.7GB data per day.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Options A) </a:t>
            </a:r>
            <a:r>
              <a:rPr lang="en-US" sz="2000" dirty="0"/>
              <a:t>limit the order book history.</a:t>
            </a:r>
          </a:p>
          <a:p>
            <a:pPr marL="0" indent="0">
              <a:buNone/>
            </a:pPr>
            <a:r>
              <a:rPr lang="en-US" sz="2000" b="1" dirty="0"/>
              <a:t>Options B) </a:t>
            </a:r>
            <a:r>
              <a:rPr lang="en-US" sz="2000" dirty="0"/>
              <a:t>sign up for a cloud storage and help Jeff become a trillionaire.</a:t>
            </a:r>
          </a:p>
          <a:p>
            <a:pPr marL="0" indent="0">
              <a:buNone/>
            </a:pPr>
            <a:r>
              <a:rPr lang="en-US" sz="2000" b="1" dirty="0"/>
              <a:t>Option C) </a:t>
            </a:r>
            <a:r>
              <a:rPr lang="en-US" sz="2000" dirty="0"/>
              <a:t>compress further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I choose option C.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650591AE-A649-6B9B-34EB-D6864392B3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3A7A9D-76EB-E25F-5B19-7EB4485BE103}"/>
              </a:ext>
            </a:extLst>
          </p:cNvPr>
          <p:cNvSpPr txBox="1"/>
          <p:nvPr/>
        </p:nvSpPr>
        <p:spPr>
          <a:xfrm>
            <a:off x="6797003" y="6570279"/>
            <a:ext cx="3244771" cy="28771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300" dirty="0"/>
              <a:t>[Image Source: </a:t>
            </a:r>
            <a:r>
              <a:rPr lang="en-US" sz="1300" dirty="0" err="1"/>
              <a:t>gemini</a:t>
            </a:r>
            <a:r>
              <a:rPr lang="en-US" sz="1300" dirty="0"/>
              <a:t> AI</a:t>
            </a:r>
          </a:p>
        </p:txBody>
      </p:sp>
    </p:spTree>
    <p:extLst>
      <p:ext uri="{BB962C8B-B14F-4D97-AF65-F5344CB8AC3E}">
        <p14:creationId xmlns:p14="http://schemas.microsoft.com/office/powerpoint/2010/main" val="156189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D50D25-0923-1A3F-1B6A-19B4F9418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23E547B5-89CF-4EC0-96DE-25771AED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F0B8CEB-8279-4E5E-A0CE-1FC9F7173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782" y="0"/>
            <a:ext cx="7421217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93A387-D275-BBFC-E860-64140B981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0466" y="609600"/>
            <a:ext cx="4140014" cy="1330839"/>
          </a:xfrm>
        </p:spPr>
        <p:txBody>
          <a:bodyPr>
            <a:normAutofit/>
          </a:bodyPr>
          <a:lstStyle/>
          <a:p>
            <a:r>
              <a:rPr lang="en-US"/>
              <a:t>Most orders don’t change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54DE37-0E2A-8C03-9A06-DADDE2BDAC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936" b="1"/>
          <a:stretch>
            <a:fillRect/>
          </a:stretch>
        </p:blipFill>
        <p:spPr>
          <a:xfrm>
            <a:off x="20" y="10"/>
            <a:ext cx="6901711" cy="6857990"/>
          </a:xfrm>
          <a:custGeom>
            <a:avLst/>
            <a:gdLst/>
            <a:ahLst/>
            <a:cxnLst/>
            <a:rect l="l" t="t" r="r" b="b"/>
            <a:pathLst>
              <a:path w="6901731" h="6858000">
                <a:moveTo>
                  <a:pt x="0" y="0"/>
                </a:moveTo>
                <a:lnTo>
                  <a:pt x="6897896" y="5958"/>
                </a:lnTo>
                <a:lnTo>
                  <a:pt x="6866823" y="62592"/>
                </a:lnTo>
                <a:lnTo>
                  <a:pt x="6901731" y="89476"/>
                </a:lnTo>
                <a:lnTo>
                  <a:pt x="6901731" y="103833"/>
                </a:lnTo>
                <a:lnTo>
                  <a:pt x="6900034" y="110092"/>
                </a:lnTo>
                <a:lnTo>
                  <a:pt x="6901731" y="113679"/>
                </a:lnTo>
                <a:lnTo>
                  <a:pt x="6901731" y="405560"/>
                </a:lnTo>
                <a:lnTo>
                  <a:pt x="6900456" y="429509"/>
                </a:lnTo>
                <a:cubicBezTo>
                  <a:pt x="6892773" y="535647"/>
                  <a:pt x="6878314" y="537918"/>
                  <a:pt x="6886342" y="636808"/>
                </a:cubicBezTo>
                <a:cubicBezTo>
                  <a:pt x="6892506" y="756883"/>
                  <a:pt x="6864504" y="771443"/>
                  <a:pt x="6851784" y="839073"/>
                </a:cubicBezTo>
                <a:cubicBezTo>
                  <a:pt x="6838675" y="892655"/>
                  <a:pt x="6864124" y="961738"/>
                  <a:pt x="6845760" y="994930"/>
                </a:cubicBezTo>
                <a:cubicBezTo>
                  <a:pt x="6833572" y="1024166"/>
                  <a:pt x="6859282" y="1058905"/>
                  <a:pt x="6845601" y="1112932"/>
                </a:cubicBezTo>
                <a:cubicBezTo>
                  <a:pt x="6838700" y="1149910"/>
                  <a:pt x="6829138" y="1151035"/>
                  <a:pt x="6820235" y="1187433"/>
                </a:cubicBezTo>
                <a:cubicBezTo>
                  <a:pt x="6815504" y="1196464"/>
                  <a:pt x="6777707" y="1338549"/>
                  <a:pt x="6759643" y="1337010"/>
                </a:cubicBezTo>
                <a:cubicBezTo>
                  <a:pt x="6737660" y="1337296"/>
                  <a:pt x="6760650" y="1396341"/>
                  <a:pt x="6736375" y="1382272"/>
                </a:cubicBezTo>
                <a:cubicBezTo>
                  <a:pt x="6755741" y="1415836"/>
                  <a:pt x="6714675" y="1414567"/>
                  <a:pt x="6701292" y="1432111"/>
                </a:cubicBezTo>
                <a:cubicBezTo>
                  <a:pt x="6721110" y="1460185"/>
                  <a:pt x="6692106" y="1490815"/>
                  <a:pt x="6686578" y="1518624"/>
                </a:cubicBezTo>
                <a:cubicBezTo>
                  <a:pt x="6682512" y="1567002"/>
                  <a:pt x="6679579" y="1571443"/>
                  <a:pt x="6670824" y="1607743"/>
                </a:cubicBezTo>
                <a:cubicBezTo>
                  <a:pt x="6671133" y="1629590"/>
                  <a:pt x="6663161" y="1656870"/>
                  <a:pt x="6664392" y="1696405"/>
                </a:cubicBezTo>
                <a:cubicBezTo>
                  <a:pt x="6655686" y="1770486"/>
                  <a:pt x="6641938" y="1757082"/>
                  <a:pt x="6642880" y="1812372"/>
                </a:cubicBezTo>
                <a:cubicBezTo>
                  <a:pt x="6638579" y="1872475"/>
                  <a:pt x="6619231" y="1825476"/>
                  <a:pt x="6612547" y="1876437"/>
                </a:cubicBezTo>
                <a:cubicBezTo>
                  <a:pt x="6600695" y="1913834"/>
                  <a:pt x="6591061" y="1923231"/>
                  <a:pt x="6571760" y="1953331"/>
                </a:cubicBezTo>
                <a:cubicBezTo>
                  <a:pt x="6561039" y="1989021"/>
                  <a:pt x="6544090" y="2087896"/>
                  <a:pt x="6520213" y="2096455"/>
                </a:cubicBezTo>
                <a:lnTo>
                  <a:pt x="6492461" y="2188148"/>
                </a:lnTo>
                <a:cubicBezTo>
                  <a:pt x="6504372" y="2211333"/>
                  <a:pt x="6489131" y="2253220"/>
                  <a:pt x="6471854" y="2259117"/>
                </a:cubicBezTo>
                <a:cubicBezTo>
                  <a:pt x="6466151" y="2287829"/>
                  <a:pt x="6440452" y="2301346"/>
                  <a:pt x="6439832" y="2328334"/>
                </a:cubicBezTo>
                <a:cubicBezTo>
                  <a:pt x="6431013" y="2351201"/>
                  <a:pt x="6444250" y="2396409"/>
                  <a:pt x="6425162" y="2408211"/>
                </a:cubicBezTo>
                <a:lnTo>
                  <a:pt x="6417221" y="2427382"/>
                </a:lnTo>
                <a:lnTo>
                  <a:pt x="6425030" y="2464387"/>
                </a:lnTo>
                <a:lnTo>
                  <a:pt x="6406293" y="2472223"/>
                </a:lnTo>
                <a:cubicBezTo>
                  <a:pt x="6406862" y="2477277"/>
                  <a:pt x="6406486" y="2491723"/>
                  <a:pt x="6405400" y="2493547"/>
                </a:cubicBezTo>
                <a:lnTo>
                  <a:pt x="6374829" y="2532070"/>
                </a:lnTo>
                <a:cubicBezTo>
                  <a:pt x="6374597" y="2545374"/>
                  <a:pt x="6360976" y="2563797"/>
                  <a:pt x="6350864" y="2577422"/>
                </a:cubicBezTo>
                <a:cubicBezTo>
                  <a:pt x="6327056" y="2632768"/>
                  <a:pt x="6341262" y="2616275"/>
                  <a:pt x="6329174" y="2663854"/>
                </a:cubicBezTo>
                <a:cubicBezTo>
                  <a:pt x="6326303" y="2703642"/>
                  <a:pt x="6332854" y="2709643"/>
                  <a:pt x="6315095" y="2741507"/>
                </a:cubicBezTo>
                <a:cubicBezTo>
                  <a:pt x="6319921" y="2740191"/>
                  <a:pt x="6321925" y="2742004"/>
                  <a:pt x="6322463" y="2745641"/>
                </a:cubicBezTo>
                <a:cubicBezTo>
                  <a:pt x="6322245" y="2747982"/>
                  <a:pt x="6322027" y="2750323"/>
                  <a:pt x="6321808" y="2752663"/>
                </a:cubicBezTo>
                <a:lnTo>
                  <a:pt x="6314569" y="2756718"/>
                </a:lnTo>
                <a:cubicBezTo>
                  <a:pt x="6289324" y="2773686"/>
                  <a:pt x="6317551" y="2780051"/>
                  <a:pt x="6315211" y="2811618"/>
                </a:cubicBezTo>
                <a:cubicBezTo>
                  <a:pt x="6315620" y="2826627"/>
                  <a:pt x="6296047" y="2885298"/>
                  <a:pt x="6302211" y="2882314"/>
                </a:cubicBezTo>
                <a:lnTo>
                  <a:pt x="6286167" y="2949597"/>
                </a:lnTo>
                <a:cubicBezTo>
                  <a:pt x="6286401" y="2994618"/>
                  <a:pt x="6286615" y="2971464"/>
                  <a:pt x="6287037" y="3008578"/>
                </a:cubicBezTo>
                <a:cubicBezTo>
                  <a:pt x="6293795" y="3029535"/>
                  <a:pt x="6274405" y="3114154"/>
                  <a:pt x="6259150" y="3123139"/>
                </a:cubicBezTo>
                <a:cubicBezTo>
                  <a:pt x="6250085" y="3189063"/>
                  <a:pt x="6269067" y="3151280"/>
                  <a:pt x="6272249" y="3227854"/>
                </a:cubicBezTo>
                <a:cubicBezTo>
                  <a:pt x="6278775" y="3295842"/>
                  <a:pt x="6289216" y="3303765"/>
                  <a:pt x="6292288" y="3378383"/>
                </a:cubicBezTo>
                <a:cubicBezTo>
                  <a:pt x="6303894" y="3395995"/>
                  <a:pt x="6287498" y="3432581"/>
                  <a:pt x="6288328" y="3459618"/>
                </a:cubicBezTo>
                <a:cubicBezTo>
                  <a:pt x="6289158" y="3486653"/>
                  <a:pt x="6299937" y="3538735"/>
                  <a:pt x="6297272" y="3540603"/>
                </a:cubicBezTo>
                <a:cubicBezTo>
                  <a:pt x="6296849" y="3577379"/>
                  <a:pt x="6294184" y="3587943"/>
                  <a:pt x="6291001" y="3638374"/>
                </a:cubicBezTo>
                <a:cubicBezTo>
                  <a:pt x="6283026" y="3666794"/>
                  <a:pt x="6265833" y="3731744"/>
                  <a:pt x="6283592" y="3763609"/>
                </a:cubicBezTo>
                <a:cubicBezTo>
                  <a:pt x="6264286" y="3758340"/>
                  <a:pt x="6290177" y="3803150"/>
                  <a:pt x="6274068" y="3814506"/>
                </a:cubicBezTo>
                <a:cubicBezTo>
                  <a:pt x="6260645" y="3821643"/>
                  <a:pt x="6265372" y="3836902"/>
                  <a:pt x="6262850" y="3850454"/>
                </a:cubicBezTo>
                <a:cubicBezTo>
                  <a:pt x="6250418" y="3863479"/>
                  <a:pt x="6250660" y="3955243"/>
                  <a:pt x="6257357" y="3975474"/>
                </a:cubicBezTo>
                <a:cubicBezTo>
                  <a:pt x="6245091" y="4036737"/>
                  <a:pt x="6237535" y="4029237"/>
                  <a:pt x="6257889" y="4073155"/>
                </a:cubicBezTo>
                <a:cubicBezTo>
                  <a:pt x="6259272" y="4085906"/>
                  <a:pt x="6239882" y="4116397"/>
                  <a:pt x="6237441" y="4126638"/>
                </a:cubicBezTo>
                <a:lnTo>
                  <a:pt x="6245587" y="4172738"/>
                </a:lnTo>
                <a:lnTo>
                  <a:pt x="6235772" y="4176721"/>
                </a:lnTo>
                <a:lnTo>
                  <a:pt x="6233287" y="4195136"/>
                </a:lnTo>
                <a:lnTo>
                  <a:pt x="6234619" y="4280850"/>
                </a:lnTo>
                <a:cubicBezTo>
                  <a:pt x="6239453" y="4320763"/>
                  <a:pt x="6223309" y="4337596"/>
                  <a:pt x="6219318" y="4402526"/>
                </a:cubicBezTo>
                <a:cubicBezTo>
                  <a:pt x="6205466" y="4516209"/>
                  <a:pt x="6216183" y="4588729"/>
                  <a:pt x="6216810" y="4651172"/>
                </a:cubicBezTo>
                <a:cubicBezTo>
                  <a:pt x="6217673" y="4756959"/>
                  <a:pt x="6228654" y="4824005"/>
                  <a:pt x="6225945" y="4916779"/>
                </a:cubicBezTo>
                <a:cubicBezTo>
                  <a:pt x="6217032" y="4993010"/>
                  <a:pt x="6264271" y="4984591"/>
                  <a:pt x="6230174" y="5051379"/>
                </a:cubicBezTo>
                <a:cubicBezTo>
                  <a:pt x="6235713" y="5056951"/>
                  <a:pt x="6239420" y="5163714"/>
                  <a:pt x="6242600" y="5170879"/>
                </a:cubicBezTo>
                <a:lnTo>
                  <a:pt x="6235996" y="5216428"/>
                </a:lnTo>
                <a:lnTo>
                  <a:pt x="6214638" y="5285298"/>
                </a:lnTo>
                <a:cubicBezTo>
                  <a:pt x="6211392" y="5297492"/>
                  <a:pt x="6225576" y="5312063"/>
                  <a:pt x="6228432" y="5317696"/>
                </a:cubicBezTo>
                <a:lnTo>
                  <a:pt x="6246496" y="5398787"/>
                </a:lnTo>
                <a:lnTo>
                  <a:pt x="6244793" y="5399530"/>
                </a:lnTo>
                <a:lnTo>
                  <a:pt x="6241695" y="5406948"/>
                </a:lnTo>
                <a:lnTo>
                  <a:pt x="6267461" y="5499413"/>
                </a:lnTo>
                <a:cubicBezTo>
                  <a:pt x="6285387" y="5533848"/>
                  <a:pt x="6284888" y="5550029"/>
                  <a:pt x="6295987" y="5582659"/>
                </a:cubicBezTo>
                <a:cubicBezTo>
                  <a:pt x="6311253" y="5681724"/>
                  <a:pt x="6295439" y="5695558"/>
                  <a:pt x="6364803" y="5784263"/>
                </a:cubicBezTo>
                <a:cubicBezTo>
                  <a:pt x="6379348" y="5818651"/>
                  <a:pt x="6412475" y="5906802"/>
                  <a:pt x="6423050" y="5922637"/>
                </a:cubicBezTo>
                <a:cubicBezTo>
                  <a:pt x="6445210" y="5973612"/>
                  <a:pt x="6468179" y="6023873"/>
                  <a:pt x="6497767" y="6090108"/>
                </a:cubicBezTo>
                <a:cubicBezTo>
                  <a:pt x="6571895" y="6150548"/>
                  <a:pt x="6572491" y="6236583"/>
                  <a:pt x="6606710" y="6281543"/>
                </a:cubicBezTo>
                <a:cubicBezTo>
                  <a:pt x="6633675" y="6335892"/>
                  <a:pt x="6654357" y="6388782"/>
                  <a:pt x="6667540" y="6443715"/>
                </a:cubicBezTo>
                <a:cubicBezTo>
                  <a:pt x="6685192" y="6466826"/>
                  <a:pt x="6650500" y="6508701"/>
                  <a:pt x="6659722" y="6550105"/>
                </a:cubicBezTo>
                <a:cubicBezTo>
                  <a:pt x="6665926" y="6645044"/>
                  <a:pt x="6669126" y="6627536"/>
                  <a:pt x="6671805" y="6687397"/>
                </a:cubicBezTo>
                <a:cubicBezTo>
                  <a:pt x="6682671" y="6733683"/>
                  <a:pt x="6665210" y="6772117"/>
                  <a:pt x="6669658" y="6806602"/>
                </a:cubicBezTo>
                <a:cubicBezTo>
                  <a:pt x="6661174" y="6812658"/>
                  <a:pt x="6667097" y="6831470"/>
                  <a:pt x="6675783" y="6850325"/>
                </a:cubicBezTo>
                <a:lnTo>
                  <a:pt x="6679704" y="6858000"/>
                </a:lnTo>
                <a:lnTo>
                  <a:pt x="4532241" y="6858000"/>
                </a:lnTo>
                <a:lnTo>
                  <a:pt x="120859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F0CCF-FEA2-290B-5B50-A012061A8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0465" y="2194102"/>
            <a:ext cx="4140013" cy="39085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/>
              <a:t>Within a 5-minute interval, most orders remain unchanged.</a:t>
            </a:r>
          </a:p>
          <a:p>
            <a:pPr marL="0" indent="0">
              <a:buNone/>
            </a:pPr>
            <a:r>
              <a:rPr lang="en-US" sz="2000"/>
              <a:t>Trading happens on the best priced sell and buy orders.</a:t>
            </a:r>
          </a:p>
          <a:p>
            <a:pPr marL="0" indent="0">
              <a:buNone/>
            </a:pPr>
            <a:r>
              <a:rPr lang="en-US" sz="2000"/>
              <a:t>Occasionally a trader may update the order price stay competitive.</a:t>
            </a:r>
          </a:p>
          <a:p>
            <a:pPr marL="0" indent="0">
              <a:buNone/>
            </a:pPr>
            <a:r>
              <a:rPr lang="en-US" sz="2000"/>
              <a:t>Occasionally orders expire or are cancelled by the trader.</a:t>
            </a:r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C829ABB3-3245-D179-7E2B-80B24E5ECCC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266AC3-9435-C368-E53F-E5FE222C7190}"/>
              </a:ext>
            </a:extLst>
          </p:cNvPr>
          <p:cNvSpPr txBox="1"/>
          <p:nvPr/>
        </p:nvSpPr>
        <p:spPr>
          <a:xfrm>
            <a:off x="6797003" y="6570279"/>
            <a:ext cx="3244771" cy="28771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300" dirty="0"/>
              <a:t>[Image Source: </a:t>
            </a:r>
            <a:r>
              <a:rPr lang="en-US" sz="1300" dirty="0" err="1"/>
              <a:t>www.eveonline.com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66095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1133D2-46BD-50D6-16F3-12A0BCA94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3F4036-B93D-96D5-815F-2A3AE771D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en-US" dirty="0"/>
              <a:t>Capture 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761D1-035D-39D7-29C0-4638EE05F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366" y="2194102"/>
            <a:ext cx="3427001" cy="39085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Apply the “event sourcing” pattern.</a:t>
            </a:r>
          </a:p>
          <a:p>
            <a:pPr marL="0" indent="0">
              <a:buNone/>
            </a:pPr>
            <a:r>
              <a:rPr lang="en-US" sz="2000" dirty="0"/>
              <a:t>Event sourcing persists the state of a business entity such as an order as a sequence of state-changing events.</a:t>
            </a:r>
          </a:p>
          <a:p>
            <a:pPr marL="0" indent="0">
              <a:buNone/>
            </a:pPr>
            <a:r>
              <a:rPr lang="en-US" sz="2000" dirty="0">
                <a:hlinkClick r:id="rId2"/>
              </a:rPr>
              <a:t>https://martinfowler.com/eaaDev/EventSourcing.html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845F36-B13B-FB23-E4A8-E2497E6F9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5457" y="894181"/>
            <a:ext cx="6155141" cy="5093378"/>
          </a:xfrm>
          <a:prstGeom prst="rect">
            <a:avLst/>
          </a:prstGeom>
        </p:spPr>
      </p:pic>
      <p:sp>
        <p:nvSpPr>
          <p:cNvPr id="6" name="AutoShape 5">
            <a:extLst>
              <a:ext uri="{FF2B5EF4-FFF2-40B4-BE49-F238E27FC236}">
                <a16:creationId xmlns:a16="http://schemas.microsoft.com/office/drawing/2014/main" id="{91A8E7EA-B0EF-0959-7E97-28D8CD6746F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908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1B5EEC-928A-E985-E8B9-654D2CC64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E1D9AA-F5AC-161B-2CF6-BE4036167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en-US" dirty="0"/>
              <a:t>Change Event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2F611-7965-4FD7-AC1B-23C3BE9AE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366" y="2194102"/>
            <a:ext cx="3427001" cy="390858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4720BB03-14D0-ADAD-4A28-65162BE73B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9080E3A-BE3C-D721-747B-3EF7BC9217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2495242"/>
              </p:ext>
            </p:extLst>
          </p:nvPr>
        </p:nvGraphicFramePr>
        <p:xfrm>
          <a:off x="5445457" y="1995470"/>
          <a:ext cx="6155142" cy="2890802"/>
        </p:xfrm>
        <a:graphic>
          <a:graphicData uri="http://schemas.openxmlformats.org/drawingml/2006/table">
            <a:tbl>
              <a:tblPr/>
              <a:tblGrid>
                <a:gridCol w="2391730">
                  <a:extLst>
                    <a:ext uri="{9D8B030D-6E8A-4147-A177-3AD203B41FA5}">
                      <a16:colId xmlns:a16="http://schemas.microsoft.com/office/drawing/2014/main" val="1738293396"/>
                    </a:ext>
                  </a:extLst>
                </a:gridCol>
                <a:gridCol w="3763412">
                  <a:extLst>
                    <a:ext uri="{9D8B030D-6E8A-4147-A177-3AD203B41FA5}">
                      <a16:colId xmlns:a16="http://schemas.microsoft.com/office/drawing/2014/main" val="3384489933"/>
                    </a:ext>
                  </a:extLst>
                </a:gridCol>
              </a:tblGrid>
              <a:tr h="378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Event Type</a:t>
                      </a:r>
                    </a:p>
                  </a:txBody>
                  <a:tcPr marL="106568" marR="106568" marT="49185" marB="49185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Trigger</a:t>
                      </a:r>
                    </a:p>
                  </a:txBody>
                  <a:tcPr marL="106568" marR="106568" marT="49185" marB="49185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2023544"/>
                  </a:ext>
                </a:extLst>
              </a:tr>
              <a:tr h="378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TRADE</a:t>
                      </a:r>
                      <a:endParaRPr lang="en-US" sz="1600">
                        <a:effectLst/>
                        <a:latin typeface="+mn-lt"/>
                      </a:endParaRPr>
                    </a:p>
                  </a:txBody>
                  <a:tcPr marL="106568" marR="106568" marT="49185" marB="49185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Volume reduced</a:t>
                      </a:r>
                    </a:p>
                  </a:txBody>
                  <a:tcPr marL="106568" marR="106568" marT="49185" marB="49185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8292345"/>
                  </a:ext>
                </a:extLst>
              </a:tr>
              <a:tr h="378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ORDER_OPENED</a:t>
                      </a:r>
                      <a:endParaRPr lang="en-US" sz="1600">
                        <a:effectLst/>
                        <a:latin typeface="+mn-lt"/>
                      </a:endParaRPr>
                    </a:p>
                  </a:txBody>
                  <a:tcPr marL="106568" marR="106568" marT="49185" marB="49185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New order appeared</a:t>
                      </a:r>
                    </a:p>
                  </a:txBody>
                  <a:tcPr marL="106568" marR="106568" marT="49185" marB="49185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424398"/>
                  </a:ext>
                </a:extLst>
              </a:tr>
              <a:tr h="378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ORDER_CLOSED</a:t>
                      </a:r>
                      <a:endParaRPr lang="en-US" sz="1600">
                        <a:effectLst/>
                        <a:latin typeface="+mn-lt"/>
                      </a:endParaRPr>
                    </a:p>
                  </a:txBody>
                  <a:tcPr marL="106568" marR="106568" marT="49185" marB="49185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Order disappeared with volume=0</a:t>
                      </a:r>
                    </a:p>
                  </a:txBody>
                  <a:tcPr marL="106568" marR="106568" marT="49185" marB="49185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4809617"/>
                  </a:ext>
                </a:extLst>
              </a:tr>
              <a:tr h="6199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ORDER_CANCELLED</a:t>
                      </a:r>
                      <a:endParaRPr lang="en-US" sz="1600">
                        <a:effectLst/>
                        <a:latin typeface="+mn-lt"/>
                      </a:endParaRPr>
                    </a:p>
                  </a:txBody>
                  <a:tcPr marL="106568" marR="106568" marT="49185" marB="49185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Order disappeared with volume&gt;0, not expired</a:t>
                      </a:r>
                    </a:p>
                  </a:txBody>
                  <a:tcPr marL="106568" marR="106568" marT="49185" marB="49185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1032322"/>
                  </a:ext>
                </a:extLst>
              </a:tr>
              <a:tr h="378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PRICE_CHANGED</a:t>
                      </a:r>
                      <a:endParaRPr lang="en-US" sz="1600">
                        <a:effectLst/>
                        <a:latin typeface="+mn-lt"/>
                      </a:endParaRPr>
                    </a:p>
                  </a:txBody>
                  <a:tcPr marL="106568" marR="106568" marT="49185" marB="49185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Price modified</a:t>
                      </a:r>
                    </a:p>
                  </a:txBody>
                  <a:tcPr marL="106568" marR="106568" marT="49185" marB="49185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83585"/>
                  </a:ext>
                </a:extLst>
              </a:tr>
              <a:tr h="378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ORDER_EXPIRED</a:t>
                      </a:r>
                      <a:endParaRPr lang="en-US" sz="1600">
                        <a:effectLst/>
                        <a:latin typeface="+mn-lt"/>
                      </a:endParaRPr>
                    </a:p>
                  </a:txBody>
                  <a:tcPr marL="106568" marR="106568" marT="49185" marB="49185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Natural expiration time reached</a:t>
                      </a:r>
                    </a:p>
                  </a:txBody>
                  <a:tcPr marL="106568" marR="106568" marT="49185" marB="49185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8441087"/>
                  </a:ext>
                </a:extLst>
              </a:tr>
            </a:tbl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0A99B93-B589-A4E9-1C4A-E934C7CBD24C}"/>
              </a:ext>
            </a:extLst>
          </p:cNvPr>
          <p:cNvSpPr txBox="1">
            <a:spLocks/>
          </p:cNvSpPr>
          <p:nvPr/>
        </p:nvSpPr>
        <p:spPr>
          <a:xfrm>
            <a:off x="1014766" y="2346502"/>
            <a:ext cx="3427001" cy="3908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The first snapshot which is processed will establish the baseline by initializing each order as “</a:t>
            </a:r>
            <a:r>
              <a:rPr lang="en-US" sz="2000" dirty="0" err="1"/>
              <a:t>order_opened</a:t>
            </a:r>
            <a:r>
              <a:rPr lang="en-US" sz="2000" dirty="0"/>
              <a:t>” event.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450170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47865-0902-566C-1455-304D322AF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Processing one interval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82901F9-3EBE-9214-AC58-9607FACC6A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2811" y="2097261"/>
            <a:ext cx="3868986" cy="14093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214958-0B36-F824-E00D-F4AB49EE7E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730" y="2097261"/>
            <a:ext cx="3868986" cy="14257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4FD59E-8955-5938-9E8B-55FB24C32D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8649" y="2097261"/>
            <a:ext cx="3446422" cy="266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831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C357A-87DE-1698-910F-CE888BB9D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6F945-035C-B3DC-E190-2DB69617F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Extrapolate to one day data volume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6678B5-FB5A-6AA9-F73B-A97B9BE93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29462"/>
            <a:ext cx="7772400" cy="4963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8770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8C0CF-F0E0-0DB3-4034-442BAE742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065BF8-1CBE-FE56-D146-262DB032B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03050"/>
            <a:ext cx="6208222" cy="5261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277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546</TotalTime>
  <Words>1198</Words>
  <Application>Microsoft Macintosh PowerPoint</Application>
  <PresentationFormat>Widescreen</PresentationFormat>
  <Paragraphs>146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Solving Space Issues in Space</vt:lpstr>
      <vt:lpstr>Data Context:  Eve Online –  a massive multiplayer online game</vt:lpstr>
      <vt:lpstr>Data Context:  Eve Online –  spreadsheets in space</vt:lpstr>
      <vt:lpstr>Data Context:  Eve Online –  real world headlines</vt:lpstr>
      <vt:lpstr>Business Goal</vt:lpstr>
      <vt:lpstr>Data Source</vt:lpstr>
      <vt:lpstr>Technical Challenge</vt:lpstr>
      <vt:lpstr>Stage 1:  JSON to Parquet</vt:lpstr>
      <vt:lpstr>Better but not enough…</vt:lpstr>
      <vt:lpstr>Most orders don’t change</vt:lpstr>
      <vt:lpstr>Capture changes</vt:lpstr>
      <vt:lpstr>Change Event Types</vt:lpstr>
      <vt:lpstr>Processing one interval</vt:lpstr>
      <vt:lpstr>Extrapolate to one day data volume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Fredrik Bäckman</dc:creator>
  <cp:lastModifiedBy>Fredrik Bäckman</cp:lastModifiedBy>
  <cp:revision>8</cp:revision>
  <dcterms:created xsi:type="dcterms:W3CDTF">2025-11-03T09:56:31Z</dcterms:created>
  <dcterms:modified xsi:type="dcterms:W3CDTF">2025-11-16T15:12:13Z</dcterms:modified>
</cp:coreProperties>
</file>